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67" r:id="rId2"/>
    <p:sldId id="268" r:id="rId3"/>
    <p:sldId id="269" r:id="rId4"/>
    <p:sldId id="263" r:id="rId5"/>
    <p:sldId id="271" r:id="rId6"/>
    <p:sldId id="272" r:id="rId7"/>
    <p:sldId id="258" r:id="rId8"/>
    <p:sldId id="270" r:id="rId9"/>
    <p:sldId id="264" r:id="rId1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B486"/>
    <a:srgbClr val="B9A461"/>
    <a:srgbClr val="678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1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4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6" d="100"/>
          <a:sy n="86" d="100"/>
        </p:scale>
        <p:origin x="208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2D020A0-024E-B76A-170D-646983CBE1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7A0C353-2043-8B6C-15CE-C766577424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D9D6B-C487-4592-A12C-2E5497C6B679}" type="datetimeFigureOut">
              <a:rPr lang="fr-FR" smtClean="0"/>
              <a:t>24/04/2026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4DC139-B88D-2286-6A29-368125EC96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96CA702-FA8C-17A1-C37C-36F54C42A6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2B931A-01D8-4367-B7E5-6CC7198CC80B}" type="slidenum">
              <a:rPr lang="fr-FR" smtClean="0">
                <a:solidFill>
                  <a:srgbClr val="51B486"/>
                </a:solidFill>
              </a:rPr>
              <a:t>‹N°›</a:t>
            </a:fld>
            <a:endParaRPr lang="fr-FR" dirty="0">
              <a:solidFill>
                <a:srgbClr val="51B48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311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12407CF-F90D-98F2-6BB6-14B416294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51B486"/>
                </a:solidFill>
              </a:defRPr>
            </a:lvl1pPr>
          </a:lstStyle>
          <a:p>
            <a:fld id="{7BB096AC-0647-4BDC-92EA-252D0ED4A07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878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7397B-1F5F-3A39-D652-6F7993C2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CE566-BF34-5E41-4B06-AF9D74D8A4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D31A6-9859-D1A1-2653-EBEE38722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736DD-8A65-3371-84EA-409AE8CE3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76968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645A-E6E3-3C86-A7D7-28F178DA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27218-E2BC-9A84-5064-2ADB3E3F0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93F34-77B4-877F-CB76-80B26D55C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2203F-3D12-FD26-7220-782AF93BE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92302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371E5-628C-2DE8-1B89-AF67C573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EDA43-EF7A-A274-FD31-07948D4D27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1BC03F-A11D-CA5D-5B30-7E05B40256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FE2D2-AD80-C2C5-D737-89D3DB884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349846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938AF-26A7-8629-678B-E36B3476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93E73-D7E0-190E-8E93-7E69171A54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077EF-5C25-BEBF-D7FC-3EB1EDE7B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8AE4C-5D61-0FA5-AFA1-F0DDF866C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74353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46815" y="6391799"/>
            <a:ext cx="2133600" cy="365125"/>
          </a:xfrm>
        </p:spPr>
        <p:txBody>
          <a:bodyPr/>
          <a:lstStyle>
            <a:lvl1pPr>
              <a:defRPr>
                <a:solidFill>
                  <a:srgbClr val="51B486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web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0637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972800" cy="197592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sz="4200" b="1" i="0" dirty="0">
                <a:solidFill>
                  <a:srgbClr val="EAEAEA"/>
                </a:solidFill>
                <a:latin typeface="Calibri"/>
              </a:rPr>
              <a:t>Bornes de recharge VE à Paris</a:t>
            </a:r>
          </a:p>
          <a:p>
            <a:pPr algn="l"/>
            <a:r>
              <a:rPr lang="fr-FR" sz="4200" b="1" i="0" dirty="0">
                <a:solidFill>
                  <a:srgbClr val="EAEAEA"/>
                </a:solidFill>
                <a:latin typeface="Calibri"/>
              </a:rPr>
              <a:t>Où en installer, combien, et quand ?</a:t>
            </a:r>
          </a:p>
          <a:p>
            <a:pPr algn="l"/>
            <a:endParaRPr sz="4200" b="1" i="0" dirty="0">
              <a:solidFill>
                <a:srgbClr val="EAEAEA"/>
              </a:solidFill>
              <a:latin typeface="Calibri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3520440"/>
            <a:ext cx="3566160" cy="0"/>
          </a:xfrm>
          <a:prstGeom prst="line">
            <a:avLst/>
          </a:prstGeom>
          <a:ln w="25400">
            <a:solidFill>
              <a:srgbClr val="B9A4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749039"/>
            <a:ext cx="10972800" cy="3139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b="1" dirty="0">
                <a:solidFill>
                  <a:srgbClr val="B9A461"/>
                </a:solidFill>
                <a:latin typeface="Calibri"/>
              </a:rPr>
              <a:t>Equipe : Aymeric LA HONDE, Wilfrid DANDOU, Antoine Charles MBEPA, Grégory HAAS</a:t>
            </a:r>
            <a:endParaRPr sz="1800" b="1" i="0" dirty="0">
              <a:solidFill>
                <a:srgbClr val="B9A461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 dirty="0">
                <a:solidFill>
                  <a:srgbClr val="8A9199"/>
                </a:solidFill>
                <a:latin typeface="Calibri"/>
              </a:rPr>
              <a:t>Bornes de recharge VE — Paris · </a:t>
            </a:r>
            <a:r>
              <a:rPr sz="900" b="0" i="0" dirty="0" err="1">
                <a:solidFill>
                  <a:srgbClr val="8A9199"/>
                </a:solidFill>
                <a:latin typeface="Calibri"/>
              </a:rPr>
              <a:t>Projet</a:t>
            </a:r>
            <a:r>
              <a:rPr sz="900" b="0" i="0" dirty="0">
                <a:solidFill>
                  <a:srgbClr val="8A9199"/>
                </a:solidFill>
                <a:latin typeface="Calibri"/>
              </a:rPr>
              <a:t> Final Jedha</a:t>
            </a:r>
          </a:p>
        </p:txBody>
      </p:sp>
      <p:sp>
        <p:nvSpPr>
          <p:cNvPr id="901" name="PageNum1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sz="2600" b="1" i="0" dirty="0">
                <a:solidFill>
                  <a:srgbClr val="51B486"/>
                </a:solidFill>
                <a:latin typeface="Calibri"/>
              </a:rPr>
              <a:t>CONTEXTE</a:t>
            </a:r>
            <a:endParaRPr sz="2600" b="1" i="0" dirty="0">
              <a:solidFill>
                <a:srgbClr val="51B486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6615" y="714066"/>
            <a:ext cx="1374428" cy="45719"/>
          </a:xfrm>
          <a:prstGeom prst="rect">
            <a:avLst/>
          </a:prstGeom>
          <a:solidFill>
            <a:srgbClr val="51B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2EF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3383280" cy="77559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4800" b="1" dirty="0">
                <a:solidFill>
                  <a:srgbClr val="2EF598"/>
                </a:solidFill>
                <a:latin typeface="Calibri"/>
              </a:rPr>
              <a:t>6700</a:t>
            </a:r>
            <a:endParaRPr sz="4800" b="1" i="0" dirty="0">
              <a:solidFill>
                <a:srgbClr val="2EF59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33832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0" dirty="0" err="1">
                <a:solidFill>
                  <a:srgbClr val="EAEAEA"/>
                </a:solidFill>
                <a:latin typeface="Calibri"/>
              </a:rPr>
              <a:t>bornes</a:t>
            </a:r>
            <a:r>
              <a:rPr sz="1300" b="0" i="0" dirty="0">
                <a:solidFill>
                  <a:srgbClr val="EAEAEA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AEAEA"/>
                </a:solidFill>
                <a:latin typeface="Calibri"/>
              </a:rPr>
              <a:t>publiques</a:t>
            </a:r>
            <a:r>
              <a:rPr sz="1300" b="0" i="0" dirty="0">
                <a:solidFill>
                  <a:srgbClr val="EAEAEA"/>
                </a:solidFill>
                <a:latin typeface="Calibri"/>
              </a:rPr>
              <a:t> à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338328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 i="1" dirty="0" err="1">
                <a:solidFill>
                  <a:srgbClr val="8A9199"/>
                </a:solidFill>
                <a:latin typeface="Calibri"/>
              </a:rPr>
              <a:t>Belib</a:t>
            </a:r>
            <a:r>
              <a:rPr sz="1000" b="0" i="1" dirty="0">
                <a:solidFill>
                  <a:srgbClr val="8A9199"/>
                </a:solidFill>
                <a:latin typeface="Calibri"/>
              </a:rPr>
              <a:t>' · </a:t>
            </a:r>
            <a:r>
              <a:rPr sz="1000" b="0" i="1" dirty="0" err="1">
                <a:solidFill>
                  <a:srgbClr val="8A9199"/>
                </a:solidFill>
                <a:latin typeface="Calibri"/>
              </a:rPr>
              <a:t>Gireve</a:t>
            </a:r>
            <a:endParaRPr sz="1000" b="0" i="1" dirty="0">
              <a:solidFill>
                <a:srgbClr val="8A9199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651760"/>
            <a:ext cx="3383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4800" b="1" i="0">
                <a:solidFill>
                  <a:srgbClr val="FFD54F"/>
                </a:solidFill>
                <a:latin typeface="Calibri"/>
              </a:rPr>
              <a:t>×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20440"/>
            <a:ext cx="33832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0">
                <a:solidFill>
                  <a:srgbClr val="EAEAEA"/>
                </a:solidFill>
                <a:latin typeface="Calibri"/>
              </a:rPr>
              <a:t>véhicules électriques
d'ici 3 à 5 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 i="1">
                <a:solidFill>
                  <a:srgbClr val="8A9199"/>
                </a:solidFill>
                <a:latin typeface="Calibri"/>
              </a:rPr>
              <a:t>ZFE · AFIR · fin des thermiques 2035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2651760"/>
            <a:ext cx="338328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4800" b="1" i="0">
                <a:solidFill>
                  <a:srgbClr val="FF8F65"/>
                </a:solidFill>
                <a:latin typeface="Calibri"/>
              </a:rPr>
              <a:t>1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520440"/>
            <a:ext cx="33832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 i="0">
                <a:solidFill>
                  <a:srgbClr val="EAEAEA"/>
                </a:solidFill>
                <a:latin typeface="Calibri"/>
              </a:rPr>
              <a:t>norme européenne AFIR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4114800"/>
            <a:ext cx="3383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000" b="0" i="1">
                <a:solidFill>
                  <a:srgbClr val="8A9199"/>
                </a:solidFill>
                <a:latin typeface="Calibri"/>
              </a:rPr>
              <a:t>Règlement UE 2023 · 1 borne / 10 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5F149FB6-2FC4-0B11-D9E9-355F69C624C6}"/>
              </a:ext>
            </a:extLst>
          </p:cNvPr>
          <p:cNvSpPr txBox="1"/>
          <p:nvPr/>
        </p:nvSpPr>
        <p:spPr>
          <a:xfrm>
            <a:off x="361675" y="1343834"/>
            <a:ext cx="11091672" cy="96026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just"/>
            <a:r>
              <a:rPr lang="fr-FR" sz="2000" b="1" i="0" dirty="0">
                <a:solidFill>
                  <a:srgbClr val="EAEAEA"/>
                </a:solidFill>
                <a:latin typeface="Calibri"/>
              </a:rPr>
              <a:t>Paris compte </a:t>
            </a:r>
            <a:r>
              <a:rPr lang="fr-FR" sz="2000" b="1" i="0">
                <a:solidFill>
                  <a:srgbClr val="EAEAEA"/>
                </a:solidFill>
                <a:latin typeface="Calibri"/>
              </a:rPr>
              <a:t>actuellement 6700 </a:t>
            </a:r>
            <a:r>
              <a:rPr lang="fr-FR" sz="2000" b="1" i="0" dirty="0">
                <a:solidFill>
                  <a:srgbClr val="EAEAEA"/>
                </a:solidFill>
                <a:latin typeface="Calibri"/>
              </a:rPr>
              <a:t>bornes concentrées dans certains arrondissements, les immatriculations de véhicules électriques ne cessent de progresser et le cadre règlementaire impose aujourd’hui 1 borne pour 10 véhicules électriques. </a:t>
            </a:r>
            <a:endParaRPr sz="2000" b="1" i="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902" name="PageNum2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37D8-4F85-0602-2601-6C9EDFB5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FD4B98-320F-CC0C-910F-558E30B2489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1AB9FC-50FB-D9A1-D2C0-E3134594AA87}"/>
              </a:ext>
            </a:extLst>
          </p:cNvPr>
          <p:cNvSpPr txBox="1"/>
          <p:nvPr/>
        </p:nvSpPr>
        <p:spPr>
          <a:xfrm>
            <a:off x="548640" y="320040"/>
            <a:ext cx="548640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sz="2600" b="1" i="0" dirty="0">
                <a:solidFill>
                  <a:srgbClr val="51B486"/>
                </a:solidFill>
                <a:latin typeface="Calibri"/>
              </a:rPr>
              <a:t>MOTIVATIONS</a:t>
            </a:r>
            <a:endParaRPr sz="2600" b="1" i="0" dirty="0">
              <a:solidFill>
                <a:srgbClr val="51B486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BA7EB-BDE8-E586-45E8-AECF138EB860}"/>
              </a:ext>
            </a:extLst>
          </p:cNvPr>
          <p:cNvSpPr/>
          <p:nvPr/>
        </p:nvSpPr>
        <p:spPr>
          <a:xfrm>
            <a:off x="548640" y="718591"/>
            <a:ext cx="1900915" cy="56141"/>
          </a:xfrm>
          <a:prstGeom prst="rect">
            <a:avLst/>
          </a:prstGeom>
          <a:solidFill>
            <a:srgbClr val="51B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3CE39A-060A-3C28-B348-EC0232B9537F}"/>
              </a:ext>
            </a:extLst>
          </p:cNvPr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E142D100-8972-B420-B4F0-14B2D3B0225F}"/>
              </a:ext>
            </a:extLst>
          </p:cNvPr>
          <p:cNvSpPr txBox="1"/>
          <p:nvPr/>
        </p:nvSpPr>
        <p:spPr>
          <a:xfrm>
            <a:off x="361675" y="1343834"/>
            <a:ext cx="11091672" cy="65248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just"/>
            <a:r>
              <a:rPr lang="fr-FR" sz="2000" b="1" i="0" dirty="0">
                <a:solidFill>
                  <a:srgbClr val="EAEAEA"/>
                </a:solidFill>
                <a:latin typeface="Calibri"/>
              </a:rPr>
              <a:t>Notre objectif est de déterminer combien de bornes il faut ajouter dans un horizon de 1 à 5 ans pour rester au niveau attendu par la règlementation Européenne (P &lt; 10) en prenant 3 scénarios.</a:t>
            </a:r>
            <a:endParaRPr sz="2000" b="1" i="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5C9BC8C1-5154-C9D3-7A14-04B58E164A48}"/>
              </a:ext>
            </a:extLst>
          </p:cNvPr>
          <p:cNvSpPr/>
          <p:nvPr/>
        </p:nvSpPr>
        <p:spPr>
          <a:xfrm>
            <a:off x="8686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2EF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E9B0CC8A-CBAE-A81B-A26C-3BD0BE06E19C}"/>
              </a:ext>
            </a:extLst>
          </p:cNvPr>
          <p:cNvSpPr txBox="1"/>
          <p:nvPr/>
        </p:nvSpPr>
        <p:spPr>
          <a:xfrm>
            <a:off x="868680" y="2651760"/>
            <a:ext cx="338328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2600" b="1" i="0" dirty="0">
                <a:solidFill>
                  <a:srgbClr val="2EF598"/>
                </a:solidFill>
                <a:latin typeface="Calibri"/>
              </a:rPr>
              <a:t>Pression (P.) par </a:t>
            </a:r>
            <a:r>
              <a:rPr lang="fr-FR" sz="2600" b="1" i="0" dirty="0" err="1">
                <a:solidFill>
                  <a:srgbClr val="2EF598"/>
                </a:solidFill>
                <a:latin typeface="Calibri"/>
              </a:rPr>
              <a:t>arrt</a:t>
            </a:r>
            <a:r>
              <a:rPr lang="fr-FR" sz="2600" b="1" i="0" dirty="0">
                <a:solidFill>
                  <a:srgbClr val="2EF598"/>
                </a:solidFill>
                <a:latin typeface="Calibri"/>
              </a:rPr>
              <a:t>.</a:t>
            </a:r>
            <a:endParaRPr sz="2600" b="1" i="0" dirty="0">
              <a:solidFill>
                <a:srgbClr val="2EF598"/>
              </a:solidFill>
              <a:latin typeface="Calibri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C926219C-4686-3619-2504-B26BF6E3DEAA}"/>
              </a:ext>
            </a:extLst>
          </p:cNvPr>
          <p:cNvSpPr txBox="1"/>
          <p:nvPr/>
        </p:nvSpPr>
        <p:spPr>
          <a:xfrm>
            <a:off x="868680" y="3520440"/>
            <a:ext cx="338328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1300" b="0" i="0" dirty="0">
                <a:solidFill>
                  <a:srgbClr val="EAEAEA"/>
                </a:solidFill>
                <a:latin typeface="Calibri"/>
              </a:rPr>
              <a:t>Nbr. de VE / Nbr. bornes</a:t>
            </a:r>
            <a:endParaRPr sz="1300" b="0" i="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D446D10B-304B-3BC1-463A-491FCEAABFEC}"/>
              </a:ext>
            </a:extLst>
          </p:cNvPr>
          <p:cNvSpPr/>
          <p:nvPr/>
        </p:nvSpPr>
        <p:spPr>
          <a:xfrm>
            <a:off x="45262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05F8BAED-7D90-B6B3-8DA9-363F2C52B201}"/>
              </a:ext>
            </a:extLst>
          </p:cNvPr>
          <p:cNvSpPr txBox="1"/>
          <p:nvPr/>
        </p:nvSpPr>
        <p:spPr>
          <a:xfrm>
            <a:off x="4526280" y="2651760"/>
            <a:ext cx="338328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2600" b="1" i="0" dirty="0">
                <a:solidFill>
                  <a:srgbClr val="FFD54F"/>
                </a:solidFill>
                <a:latin typeface="Calibri"/>
              </a:rPr>
              <a:t>Horizon</a:t>
            </a:r>
            <a:endParaRPr sz="2600" b="1" i="0" dirty="0">
              <a:solidFill>
                <a:srgbClr val="FFD54F"/>
              </a:solidFill>
              <a:latin typeface="Calibri"/>
            </a:endParaRP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BDE20983-6073-6175-FBF5-3C881838485D}"/>
              </a:ext>
            </a:extLst>
          </p:cNvPr>
          <p:cNvSpPr txBox="1"/>
          <p:nvPr/>
        </p:nvSpPr>
        <p:spPr>
          <a:xfrm>
            <a:off x="4526280" y="3520440"/>
            <a:ext cx="338328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1300" dirty="0">
                <a:solidFill>
                  <a:srgbClr val="EAEAEA"/>
                </a:solidFill>
                <a:latin typeface="Calibri"/>
              </a:rPr>
              <a:t>De 1 à 5 ans</a:t>
            </a:r>
            <a:endParaRPr sz="1300" b="0" i="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E8A30E1A-58B1-638A-1F83-31274FD6C95D}"/>
              </a:ext>
            </a:extLst>
          </p:cNvPr>
          <p:cNvSpPr/>
          <p:nvPr/>
        </p:nvSpPr>
        <p:spPr>
          <a:xfrm>
            <a:off x="8183880" y="246888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74377DA8-9F7D-5EA4-8A91-0197C3ECDE75}"/>
              </a:ext>
            </a:extLst>
          </p:cNvPr>
          <p:cNvSpPr txBox="1"/>
          <p:nvPr/>
        </p:nvSpPr>
        <p:spPr>
          <a:xfrm>
            <a:off x="8183880" y="2651760"/>
            <a:ext cx="338328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2600" b="1" i="0" dirty="0">
                <a:solidFill>
                  <a:srgbClr val="FF8F65"/>
                </a:solidFill>
                <a:latin typeface="Calibri"/>
              </a:rPr>
              <a:t>Scénarios</a:t>
            </a:r>
            <a:endParaRPr sz="2600" b="1" i="0" dirty="0">
              <a:solidFill>
                <a:srgbClr val="FF8F65"/>
              </a:solidFill>
              <a:latin typeface="Calibri"/>
            </a:endParaRP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270CA1C6-2D94-234F-37E0-36B8F8F4BE81}"/>
              </a:ext>
            </a:extLst>
          </p:cNvPr>
          <p:cNvSpPr txBox="1"/>
          <p:nvPr/>
        </p:nvSpPr>
        <p:spPr>
          <a:xfrm>
            <a:off x="8183880" y="3520440"/>
            <a:ext cx="338328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1300" b="0" i="0" dirty="0">
                <a:solidFill>
                  <a:srgbClr val="EAEAEA"/>
                </a:solidFill>
                <a:latin typeface="Calibri"/>
              </a:rPr>
              <a:t>Bas (20 %) – Central (40 %) – Haut (60 %)</a:t>
            </a:r>
            <a:endParaRPr sz="1300" b="0" i="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903" name="PageNum3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6158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652AF99-6F23-0CB5-375E-E5C804A46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04" name="PageNum4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D0A01-FFD3-9046-8496-53BC68D6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D4809-14EF-C13B-904A-008E973174B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972A4-9CB6-3E26-8BA4-ABF71670F774}"/>
              </a:ext>
            </a:extLst>
          </p:cNvPr>
          <p:cNvSpPr txBox="1"/>
          <p:nvPr/>
        </p:nvSpPr>
        <p:spPr>
          <a:xfrm>
            <a:off x="548640" y="320040"/>
            <a:ext cx="2892144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sz="2600" b="1" i="0" dirty="0">
                <a:solidFill>
                  <a:srgbClr val="FF6B6B"/>
                </a:solidFill>
                <a:latin typeface="Calibri"/>
              </a:rPr>
              <a:t>PREPARATION - EDA</a:t>
            </a:r>
            <a:endParaRPr sz="2600" b="1" i="0" dirty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ADDE4B-46E0-A476-4EBD-F27A291DBDDF}"/>
              </a:ext>
            </a:extLst>
          </p:cNvPr>
          <p:cNvSpPr/>
          <p:nvPr/>
        </p:nvSpPr>
        <p:spPr>
          <a:xfrm flipV="1">
            <a:off x="548639" y="731520"/>
            <a:ext cx="2788449" cy="45719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76DCD-62A7-6A17-87B3-B6530E3EE9AC}"/>
              </a:ext>
            </a:extLst>
          </p:cNvPr>
          <p:cNvSpPr txBox="1"/>
          <p:nvPr/>
        </p:nvSpPr>
        <p:spPr>
          <a:xfrm>
            <a:off x="548640" y="960120"/>
            <a:ext cx="11091672" cy="96026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just"/>
            <a:r>
              <a:rPr lang="fr-FR" sz="2000" b="1" i="0" dirty="0">
                <a:solidFill>
                  <a:srgbClr val="EAEAEA"/>
                </a:solidFill>
                <a:latin typeface="Calibri"/>
              </a:rPr>
              <a:t>Pour réaliser l’EDA, nous avons croisé des données provenant de différents </a:t>
            </a:r>
            <a:r>
              <a:rPr lang="fr-FR" sz="2000" b="1" i="0" dirty="0" err="1">
                <a:solidFill>
                  <a:srgbClr val="EAEAEA"/>
                </a:solidFill>
                <a:latin typeface="Calibri"/>
              </a:rPr>
              <a:t>datasets</a:t>
            </a:r>
            <a:r>
              <a:rPr lang="fr-FR" sz="2000" b="1" i="0" dirty="0">
                <a:solidFill>
                  <a:srgbClr val="EAEAEA"/>
                </a:solidFill>
                <a:latin typeface="Calibri"/>
              </a:rPr>
              <a:t>.</a:t>
            </a:r>
          </a:p>
          <a:p>
            <a:pPr algn="just"/>
            <a:endParaRPr lang="fr-FR" sz="2000" b="1" dirty="0">
              <a:solidFill>
                <a:srgbClr val="EAEAEA"/>
              </a:solidFill>
              <a:latin typeface="Calibri"/>
            </a:endParaRPr>
          </a:p>
          <a:p>
            <a:pPr algn="just"/>
            <a:endParaRPr sz="2000" b="1" i="0" dirty="0">
              <a:solidFill>
                <a:srgbClr val="EAEAEA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6EAD5D-2D33-E87B-375A-9B1EC0F5B618}"/>
              </a:ext>
            </a:extLst>
          </p:cNvPr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F21CA24-14DD-77D1-6D40-2B61BF63A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67593"/>
              </p:ext>
            </p:extLst>
          </p:nvPr>
        </p:nvGraphicFramePr>
        <p:xfrm>
          <a:off x="548640" y="1557169"/>
          <a:ext cx="10698481" cy="4313899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2684754">
                  <a:extLst>
                    <a:ext uri="{9D8B030D-6E8A-4147-A177-3AD203B41FA5}">
                      <a16:colId xmlns:a16="http://schemas.microsoft.com/office/drawing/2014/main" val="3007840509"/>
                    </a:ext>
                  </a:extLst>
                </a:gridCol>
                <a:gridCol w="2780907">
                  <a:extLst>
                    <a:ext uri="{9D8B030D-6E8A-4147-A177-3AD203B41FA5}">
                      <a16:colId xmlns:a16="http://schemas.microsoft.com/office/drawing/2014/main" val="3117277432"/>
                    </a:ext>
                  </a:extLst>
                </a:gridCol>
                <a:gridCol w="5232820">
                  <a:extLst>
                    <a:ext uri="{9D8B030D-6E8A-4147-A177-3AD203B41FA5}">
                      <a16:colId xmlns:a16="http://schemas.microsoft.com/office/drawing/2014/main" val="2708648045"/>
                    </a:ext>
                  </a:extLst>
                </a:gridCol>
              </a:tblGrid>
              <a:tr h="398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Data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Source </a:t>
                      </a:r>
                      <a:r>
                        <a:rPr lang="en-US" sz="1600" dirty="0" err="1">
                          <a:effectLst/>
                        </a:rPr>
                        <a:t>utilisée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Contenu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2705895"/>
                  </a:ext>
                </a:extLst>
              </a:tr>
              <a:tr h="1052550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Bornes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</a:rPr>
                        <a:t>Belib</a:t>
                      </a:r>
                      <a:r>
                        <a:rPr lang="en-US" sz="1600" dirty="0">
                          <a:effectLst/>
                        </a:rPr>
                        <a:t>' </a:t>
                      </a:r>
                      <a:r>
                        <a:rPr lang="en-US" sz="1600" dirty="0" err="1">
                          <a:effectLst/>
                        </a:rPr>
                        <a:t>statique</a:t>
                      </a:r>
                      <a:r>
                        <a:rPr lang="en-US" sz="1600" dirty="0">
                          <a:effectLst/>
                        </a:rPr>
                        <a:t> (Ville de Paris)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La position et la puissance nominale des 1900 bornes </a:t>
                      </a:r>
                      <a:r>
                        <a:rPr lang="fr-FR" sz="1600" dirty="0" err="1">
                          <a:effectLst/>
                        </a:rPr>
                        <a:t>Belib</a:t>
                      </a:r>
                      <a:r>
                        <a:rPr lang="fr-FR" sz="1600" dirty="0">
                          <a:effectLst/>
                        </a:rPr>
                        <a:t>’ installées à Paris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3840793"/>
                  </a:ext>
                </a:extLst>
              </a:tr>
              <a:tr h="573559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</a:rPr>
                        <a:t>Belib</a:t>
                      </a:r>
                      <a:r>
                        <a:rPr lang="en-US" sz="1600" dirty="0">
                          <a:effectLst/>
                        </a:rPr>
                        <a:t>' temps </a:t>
                      </a:r>
                      <a:r>
                        <a:rPr lang="en-US" sz="1600" dirty="0" err="1">
                          <a:effectLst/>
                        </a:rPr>
                        <a:t>réel</a:t>
                      </a:r>
                      <a:r>
                        <a:rPr lang="en-US" sz="1600" dirty="0">
                          <a:effectLst/>
                        </a:rPr>
                        <a:t> (Ville de Paris)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La disponibilité des bornes </a:t>
                      </a:r>
                      <a:r>
                        <a:rPr lang="fr-FR" sz="1600" dirty="0" err="1">
                          <a:effectLst/>
                        </a:rPr>
                        <a:t>Belib</a:t>
                      </a:r>
                      <a:r>
                        <a:rPr lang="fr-FR" sz="1600" dirty="0">
                          <a:effectLst/>
                        </a:rPr>
                        <a:t>’ en temps réel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7735888"/>
                  </a:ext>
                </a:extLst>
              </a:tr>
              <a:tr h="821490"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fr-FR" sz="14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IRVE </a:t>
                      </a:r>
                      <a:r>
                        <a:rPr lang="en-US" sz="1600" dirty="0" err="1">
                          <a:effectLst/>
                        </a:rPr>
                        <a:t>consolidé</a:t>
                      </a:r>
                      <a:r>
                        <a:rPr lang="en-US" sz="1600" dirty="0">
                          <a:effectLst/>
                        </a:rPr>
                        <a:t> (data.gouv.fr)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Le répertoire national des Infrastructures de recharge pour véhicules électriques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4853772"/>
                  </a:ext>
                </a:extLst>
              </a:tr>
              <a:tr h="398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Nbr. de véhicules électriques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SDES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Le </a:t>
                      </a:r>
                      <a:r>
                        <a:rPr lang="en-US" sz="1600" dirty="0">
                          <a:effectLst/>
                        </a:rPr>
                        <a:t>parc VE par commune 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3555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Electricité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effectLst/>
                        </a:rPr>
                        <a:t>Enedis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consommation</a:t>
                      </a:r>
                      <a:endParaRPr lang="fr-FR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La </a:t>
                      </a:r>
                      <a:r>
                        <a:rPr lang="en-US" sz="1600" dirty="0" err="1">
                          <a:effectLst/>
                        </a:rPr>
                        <a:t>consommation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d’électricité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fr-FR" sz="1600" dirty="0">
                          <a:effectLst/>
                        </a:rPr>
                        <a:t>par arrondissement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1484507"/>
                  </a:ext>
                </a:extLst>
              </a:tr>
              <a:tr h="398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Population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INSEE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fr-FR" sz="1600" dirty="0">
                          <a:effectLst/>
                        </a:rPr>
                        <a:t>Les données des recensements 2021 et 2022</a:t>
                      </a:r>
                      <a:endParaRPr lang="fr-FR" sz="16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3948523"/>
                  </a:ext>
                </a:extLst>
              </a:tr>
            </a:tbl>
          </a:graphicData>
        </a:graphic>
      </p:graphicFrame>
      <p:sp>
        <p:nvSpPr>
          <p:cNvPr id="905" name="PageNum5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16085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E82B56-61C1-5343-3C89-56F3CED1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A8AADB-7991-26C0-815C-DE2D1A2D5E8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BB2A2-5A5E-E7B4-A609-BF2AC5BCFE11}"/>
              </a:ext>
            </a:extLst>
          </p:cNvPr>
          <p:cNvSpPr txBox="1"/>
          <p:nvPr/>
        </p:nvSpPr>
        <p:spPr>
          <a:xfrm>
            <a:off x="498363" y="329467"/>
            <a:ext cx="5701331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sz="2600" b="1" dirty="0">
                <a:solidFill>
                  <a:srgbClr val="B9A461"/>
                </a:solidFill>
                <a:latin typeface="Calibri"/>
              </a:rPr>
              <a:t>PREPARATION – ANALYSE DES DONNEES</a:t>
            </a:r>
            <a:endParaRPr sz="2600" b="1" dirty="0">
              <a:solidFill>
                <a:srgbClr val="B9A461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DFE7C8-6375-D041-E4A4-11AF32BB773C}"/>
              </a:ext>
            </a:extLst>
          </p:cNvPr>
          <p:cNvSpPr/>
          <p:nvPr/>
        </p:nvSpPr>
        <p:spPr>
          <a:xfrm flipV="1">
            <a:off x="548639" y="731519"/>
            <a:ext cx="5475089" cy="45719"/>
          </a:xfrm>
          <a:prstGeom prst="rect">
            <a:avLst/>
          </a:prstGeom>
          <a:solidFill>
            <a:srgbClr val="B9A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9A46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C6721-AF4A-4EEC-2944-4EB2991211C2}"/>
              </a:ext>
            </a:extLst>
          </p:cNvPr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077C63-41A9-2877-96C7-B49B5CD13457}"/>
              </a:ext>
            </a:extLst>
          </p:cNvPr>
          <p:cNvSpPr/>
          <p:nvPr/>
        </p:nvSpPr>
        <p:spPr>
          <a:xfrm>
            <a:off x="352706" y="1535370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2EF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Analyse de la pression actuelle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AB412B-D55F-92AD-1FFC-466E37056A1A}"/>
              </a:ext>
            </a:extLst>
          </p:cNvPr>
          <p:cNvSpPr txBox="1"/>
          <p:nvPr/>
        </p:nvSpPr>
        <p:spPr>
          <a:xfrm>
            <a:off x="165727" y="1616499"/>
            <a:ext cx="338328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2600" b="1" i="0" dirty="0">
                <a:solidFill>
                  <a:srgbClr val="2EF598"/>
                </a:solidFill>
                <a:latin typeface="Calibri"/>
              </a:rPr>
              <a:t>Bornes</a:t>
            </a:r>
            <a:endParaRPr sz="2600" b="1" i="0" dirty="0">
              <a:solidFill>
                <a:srgbClr val="2EF598"/>
              </a:solidFill>
              <a:latin typeface="Calibri"/>
            </a:endParaRP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F78FF0DC-C10A-B0F6-86FB-58E7C2F4A7B3}"/>
              </a:ext>
            </a:extLst>
          </p:cNvPr>
          <p:cNvSpPr/>
          <p:nvPr/>
        </p:nvSpPr>
        <p:spPr>
          <a:xfrm>
            <a:off x="4137653" y="1572284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Impact de la consommation électrique des VE sur la consommation globale</a:t>
            </a:r>
          </a:p>
          <a:p>
            <a:pPr algn="ctr"/>
            <a:endParaRPr dirty="0"/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CD08C72-A99B-9370-B55F-4D2F33476338}"/>
              </a:ext>
            </a:extLst>
          </p:cNvPr>
          <p:cNvSpPr txBox="1"/>
          <p:nvPr/>
        </p:nvSpPr>
        <p:spPr>
          <a:xfrm>
            <a:off x="4067644" y="1616498"/>
            <a:ext cx="338328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2600" b="1" i="0" dirty="0">
                <a:solidFill>
                  <a:srgbClr val="FFD54F"/>
                </a:solidFill>
                <a:latin typeface="Calibri"/>
              </a:rPr>
              <a:t>Electricité</a:t>
            </a:r>
            <a:endParaRPr sz="2600" b="1" i="0" dirty="0">
              <a:solidFill>
                <a:srgbClr val="FFD54F"/>
              </a:solidFill>
              <a:latin typeface="Calibri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366D33F-39F7-AE89-3989-912CEB6B0DEE}"/>
              </a:ext>
            </a:extLst>
          </p:cNvPr>
          <p:cNvSpPr/>
          <p:nvPr/>
        </p:nvSpPr>
        <p:spPr>
          <a:xfrm>
            <a:off x="8001000" y="1560721"/>
            <a:ext cx="3383280" cy="2194560"/>
          </a:xfrm>
          <a:prstGeom prst="roundRect">
            <a:avLst/>
          </a:prstGeom>
          <a:solidFill>
            <a:srgbClr val="141B2B"/>
          </a:solidFill>
          <a:ln w="15875">
            <a:solidFill>
              <a:srgbClr val="FF8F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Disparités démographiques selon les arrondissements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170136-FB61-694D-5737-75DBB92F5CB0}"/>
              </a:ext>
            </a:extLst>
          </p:cNvPr>
          <p:cNvSpPr txBox="1"/>
          <p:nvPr/>
        </p:nvSpPr>
        <p:spPr>
          <a:xfrm>
            <a:off x="7814021" y="1616497"/>
            <a:ext cx="338328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lang="fr-FR" sz="2600" b="1" i="0" dirty="0">
                <a:solidFill>
                  <a:srgbClr val="FF8F65"/>
                </a:solidFill>
                <a:latin typeface="Calibri"/>
              </a:rPr>
              <a:t>Population</a:t>
            </a:r>
            <a:endParaRPr sz="2600" b="1" i="0" dirty="0">
              <a:solidFill>
                <a:srgbClr val="FF8F65"/>
              </a:solidFill>
              <a:latin typeface="Calibri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A21BCA3D-056C-EA31-763B-DED8E7F01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19" y="3947119"/>
            <a:ext cx="3693364" cy="2073226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29A6893B-5FF3-3906-A973-0190D2D04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973" y="3968368"/>
            <a:ext cx="3550135" cy="2051977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F4F3A3F1-238D-A955-E7CC-EF75D824D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644" y="3968368"/>
            <a:ext cx="3912168" cy="2051977"/>
          </a:xfrm>
          <a:prstGeom prst="rect">
            <a:avLst/>
          </a:prstGeom>
        </p:spPr>
      </p:pic>
      <p:sp>
        <p:nvSpPr>
          <p:cNvPr id="906" name="PageNum6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4300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sz="2600" b="1" i="0" dirty="0">
                <a:solidFill>
                  <a:srgbClr val="B9A461"/>
                </a:solidFill>
                <a:latin typeface="Calibri"/>
              </a:rPr>
              <a:t>APPLICATION</a:t>
            </a:r>
            <a:endParaRPr sz="2600" b="1" i="0" dirty="0">
              <a:solidFill>
                <a:srgbClr val="B9A461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9760" y="711363"/>
            <a:ext cx="1798320" cy="45720"/>
          </a:xfrm>
          <a:prstGeom prst="rect">
            <a:avLst/>
          </a:prstGeom>
          <a:solidFill>
            <a:srgbClr val="B9A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" y="936310"/>
            <a:ext cx="11091672" cy="3754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200" b="1" i="0" dirty="0">
                <a:solidFill>
                  <a:srgbClr val="B9A461"/>
                </a:solidFill>
                <a:latin typeface="Calibri"/>
              </a:rPr>
              <a:t>https://huggingface.co/spaces/gregoryjedha/paris-bornes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3853CB1-F4B6-C67D-1361-03D5BEFD2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84950"/>
            <a:ext cx="11209110" cy="48385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6FEB94D-6D7B-0D25-BB35-A4AE8A1AC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387" y="155181"/>
            <a:ext cx="1112363" cy="1112363"/>
          </a:xfrm>
          <a:prstGeom prst="rect">
            <a:avLst/>
          </a:prstGeom>
        </p:spPr>
      </p:pic>
      <p:sp>
        <p:nvSpPr>
          <p:cNvPr id="907" name="PageNum7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951B3-DBEB-3A67-90FA-D0BAC61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102A05-2FD5-44BF-C52D-2FCE4042581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 fontAlgn="base"/>
            <a:r>
              <a:rPr lang="fr-FR" sz="2000" dirty="0"/>
              <a:t>Notre application répond bien à notre objectif, car il nous permet, partant des données récoltées, de déterminer le nombre de bornes manquantes par arrondissement, sur un horizon de 1 à 5 et en considérant plusieurs scénarios. </a:t>
            </a:r>
          </a:p>
          <a:p>
            <a:pPr algn="just" fontAlgn="base"/>
            <a:endParaRPr lang="fr-FR" sz="2000" dirty="0"/>
          </a:p>
          <a:p>
            <a:pPr algn="just" fontAlgn="base"/>
            <a:endParaRPr lang="fr-FR" sz="2000" dirty="0"/>
          </a:p>
          <a:p>
            <a:pPr algn="just" fontAlgn="base"/>
            <a:r>
              <a:rPr lang="fr-FR" sz="2000" dirty="0"/>
              <a:t>Elle peut cependant être améliorée. Nous avons identifié quatre axes d’amélioration : </a:t>
            </a:r>
          </a:p>
          <a:p>
            <a:pPr algn="just" fontAlgn="base"/>
            <a:endParaRPr lang="fr-FR" sz="2000" dirty="0"/>
          </a:p>
          <a:p>
            <a:pPr marL="342900" indent="-342900" algn="just" fontAlgn="base">
              <a:buFont typeface="+mj-lt"/>
              <a:buAutoNum type="arabicPeriod"/>
            </a:pPr>
            <a:r>
              <a:rPr lang="fr-FR" sz="2000" dirty="0"/>
              <a:t>Amélioration de la récolte de la data provenant des différentes sources (enrichir, harmoniser, …)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fr-FR" sz="2000" dirty="0"/>
              <a:t>Utilisation du Machine Learning pour affiner la prédiction (</a:t>
            </a:r>
            <a:r>
              <a:rPr lang="fr-FR" sz="2000" dirty="0" err="1"/>
              <a:t>AirFlow</a:t>
            </a:r>
            <a:r>
              <a:rPr lang="fr-FR" sz="2000" dirty="0"/>
              <a:t>, Critère de pression, …) ;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fr-FR" sz="2000" dirty="0"/>
              <a:t>Mise en place de scénarios de scalabilité pour rendre le modèle plus robuste</a:t>
            </a:r>
          </a:p>
          <a:p>
            <a:pPr marL="342900" indent="-342900" algn="just" fontAlgn="base">
              <a:buFont typeface="+mj-lt"/>
              <a:buAutoNum type="arabicPeriod"/>
            </a:pPr>
            <a:r>
              <a:rPr lang="fr-FR" sz="2000" dirty="0"/>
              <a:t>Extension de l’application à un usage utilisateurs (2nd </a:t>
            </a:r>
            <a:r>
              <a:rPr lang="fr-FR" sz="2000" dirty="0" err="1"/>
              <a:t>Streamlit</a:t>
            </a:r>
            <a:r>
              <a:rPr lang="fr-FR" sz="2000" dirty="0"/>
              <a:t> pour les utilisateurs).</a:t>
            </a:r>
          </a:p>
          <a:p>
            <a:pPr algn="ctr"/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7001D-AB84-BC4B-2F58-70F73BE35F47}"/>
              </a:ext>
            </a:extLst>
          </p:cNvPr>
          <p:cNvSpPr txBox="1"/>
          <p:nvPr/>
        </p:nvSpPr>
        <p:spPr>
          <a:xfrm>
            <a:off x="548640" y="320040"/>
            <a:ext cx="5486400" cy="43704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fr-FR" sz="2600" b="1" i="0" dirty="0">
                <a:solidFill>
                  <a:srgbClr val="51B486"/>
                </a:solidFill>
                <a:latin typeface="Calibri"/>
              </a:rPr>
              <a:t>CONCLUSION ET PERSPECTIVES</a:t>
            </a:r>
            <a:endParaRPr sz="2600" b="1" i="0" dirty="0">
              <a:solidFill>
                <a:srgbClr val="51B486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757A7-3EDE-AE0B-B9F8-E45123ACF03E}"/>
              </a:ext>
            </a:extLst>
          </p:cNvPr>
          <p:cNvSpPr/>
          <p:nvPr/>
        </p:nvSpPr>
        <p:spPr>
          <a:xfrm>
            <a:off x="548640" y="711363"/>
            <a:ext cx="4259030" cy="45719"/>
          </a:xfrm>
          <a:prstGeom prst="rect">
            <a:avLst/>
          </a:prstGeom>
          <a:solidFill>
            <a:srgbClr val="51B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AF549-C64E-4969-6FAF-CE0AAC1B05F0}"/>
              </a:ext>
            </a:extLst>
          </p:cNvPr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908" name="PageNum8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79126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1091672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7200" b="1" i="0">
                <a:solidFill>
                  <a:srgbClr val="2EF598"/>
                </a:solidFill>
                <a:latin typeface="Calibri"/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91672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800" b="0" i="0">
                <a:solidFill>
                  <a:srgbClr val="8A9199"/>
                </a:solidFill>
                <a:latin typeface="Calibri"/>
              </a:rP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 i="0">
                <a:solidFill>
                  <a:srgbClr val="8A9199"/>
                </a:solidFill>
                <a:latin typeface="Calibri"/>
              </a:rPr>
              <a:t>https://huggingface.co/spaces/gregoryjedha/paris-bornes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 i="0">
                <a:solidFill>
                  <a:srgbClr val="8A9199"/>
                </a:solidFill>
                <a:latin typeface="Calibri"/>
              </a:rPr>
              <a:t>Bornes de recharge VE — Paris · Projet Final Jedha</a:t>
            </a:r>
          </a:p>
        </p:txBody>
      </p:sp>
      <p:sp>
        <p:nvSpPr>
          <p:cNvPr id="909" name="PageNum9"/>
          <p:cNvSpPr txBox="1"/>
          <p:nvPr/>
        </p:nvSpPr>
        <p:spPr>
          <a:xfrm>
            <a:off x="11400000" y="6500000"/>
            <a:ext cx="600000" cy="280000"/>
          </a:xfrm>
          <a:prstGeom prst="rect">
            <a:avLst/>
          </a:prstGeom>
          <a:noFill/>
        </p:spPr>
        <p:txBody>
          <a:bodyPr wrap="none" anchor="ctr"/>
          <a:lstStyle/>
          <a:p>
            <a:pPr algn="r"/>
            <a:r>
              <a:rPr lang="fr-FR" sz="900" b="0" dirty="0">
                <a:solidFill>
                  <a:srgbClr val="8A91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2191</TotalTime>
  <Words>561</Words>
  <Application>Microsoft Office PowerPoint</Application>
  <PresentationFormat>Grand écran</PresentationFormat>
  <Paragraphs>84</Paragraphs>
  <Slides>9</Slides>
  <Notes>9</Notes>
  <HiddenSlides>1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Jedha</dc:creator>
  <cp:keywords/>
  <dc:description>generated using python-pptx</dc:description>
  <cp:lastModifiedBy>Jedha</cp:lastModifiedBy>
  <cp:revision>20</cp:revision>
  <dcterms:created xsi:type="dcterms:W3CDTF">2013-01-27T09:14:16Z</dcterms:created>
  <dcterms:modified xsi:type="dcterms:W3CDTF">2026-04-24T07:25:07Z</dcterms:modified>
  <cp:category/>
</cp:coreProperties>
</file>